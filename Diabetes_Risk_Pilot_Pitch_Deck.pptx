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D9C9B90-9587-422B-903E-B791546DCA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303B94B-AE5E-493C-9EE4-90543460F9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F6ABA2D-D010-4311-A85C-C70E914793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364307E-7636-4E4A-817F-00A7EED601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6A422BF-6D7A-43E3-8AF8-216A71BC7A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352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52B589D3-0AAB-439D-80CF-E946787C45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7F5F60A-6483-48CD-855D-C1D80D1625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3423938-BF79-4F1F-8B7C-B19CFBA6B2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620CDC10-4434-4620-A73A-3CF92880FE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26065F79-A33D-4084-8678-F16F980329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DAECA9F-DA2E-4509-84C3-ECA0C4005A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011274F-84AC-44FF-8FEE-E1E36A7299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1078221-3A5C-498B-B8CD-8DFE217DCA3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6C8F216-1EF1-45EE-8288-6A3E49F9EA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36C4685-D596-4986-A797-CE8C60439BA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59E35C6-BC49-4643-B52C-FD2D7ABE9E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F21A8EA-0D64-414D-9E1F-61D2E1EE7BA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D7E5D4A-B68B-47DA-B263-FA6B014D07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3015B68-F8B0-4C3F-838D-24FAA59C1DD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69047F-E865-4B6C-B636-F07BA1AFCB5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4E6AAFE-DBC8-4F6F-993B-5354102B36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F072D39-B523-4972-A377-007B0507533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246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920" y="2514600"/>
            <a:ext cx="8228160" cy="388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AI-driven Predictor for Type II Diabetes Risk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Times New Roman"/>
              </a:rPr>
              <a:t>Hellen Nakabuye</a:t>
            </a: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i="1" lang="en-US" sz="3000" spc="-1" strike="noStrike">
                <a:solidFill>
                  <a:srgbClr val="069a2e"/>
                </a:solidFill>
                <a:latin typeface="Times New Roman"/>
              </a:rPr>
              <a:t>AB Tools</a:t>
            </a:r>
            <a:r>
              <a:rPr b="0" lang="en-US" sz="3000" spc="-1" strike="noStrike">
                <a:solidFill>
                  <a:srgbClr val="069a2e"/>
                </a:solidFill>
                <a:latin typeface="Times New Roman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" descr=""/>
          <p:cNvPicPr/>
          <p:nvPr/>
        </p:nvPicPr>
        <p:blipFill>
          <a:blip r:embed="rId1"/>
          <a:stretch/>
        </p:blipFill>
        <p:spPr>
          <a:xfrm>
            <a:off x="2439720" y="299160"/>
            <a:ext cx="4114080" cy="223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69a2e"/>
                </a:solidFill>
                <a:latin typeface="Times New Roman"/>
              </a:rPr>
              <a:t>The Problem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48920" y="105084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5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Rising diabetes in Uganda(4.1%); many undiagnosed until complications.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Multiple tests, lack screening time, expenses, and staff.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Low community awareness, rising obesity.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Gap: Early, accessible, affordable screening.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69a2e"/>
                </a:solidFill>
                <a:latin typeface="Times New Roman"/>
              </a:rPr>
              <a:t>Why It Matters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685800"/>
            <a:ext cx="822816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Prediabetes(100–125 mg/dL ) is reversible with early detection.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Diabetes clinics have data available.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Late treatment is 10x more expensive.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Mobile phone penetration is high — big opportunity.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69a2e"/>
                </a:solidFill>
                <a:latin typeface="Times New Roman"/>
              </a:rPr>
              <a:t>Our Solution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Mobile ML app predicting diabetes risk.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Uses metadata, lifestyle, vitals ,Finger-prick test(if available).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Instant risk score + recommendations + clinic referral.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69a2e"/>
                </a:solidFill>
                <a:latin typeface="Times New Roman"/>
              </a:rPr>
              <a:t>How the ML Model 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8640" y="96192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Dataset: age, sex, BMI, activity, family history, diet, hypertension, Blood glucose(if tested).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Models: XGBoost(90%), Random Forest(92%)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Early accuracy: ~0.90–0.95.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Locally trained for Uganda/Africa.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69a2e"/>
                </a:solidFill>
                <a:latin typeface="Times New Roman"/>
              </a:rPr>
              <a:t>Key Features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lvl="1" marL="864000" indent="-324000" defTabSz="457200">
              <a:lnSpc>
                <a:spcPct val="15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Self-assessment (5–7 min).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Offline capability.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Local language support.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CHW dashboard.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Privacy-first design(no names).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69a2e"/>
                </a:solidFill>
                <a:latin typeface="Times New Roman"/>
              </a:rPr>
              <a:t>User Personas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8640" y="11430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 defTabSz="457200">
              <a:lnSpc>
                <a:spcPct val="15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Community members: early guidance.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Community Health Workers: faster screening.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Clinics: triage support.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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Times New Roman"/>
              </a:rPr>
              <a:t>NGOs: risk mapping.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69a2e"/>
                </a:solidFill>
                <a:latin typeface="Times New Roman"/>
              </a:rPr>
              <a:t>Impact Goals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8640" y="96192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Screen 300–500 people.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Identify 50–100 high-risk individuals.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Strengthen CHW NCD capacity.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Create baseline dataset for ML improvement.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864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69a2e"/>
                </a:solidFill>
                <a:latin typeface="Times New Roman"/>
              </a:rPr>
              <a:t>Pilot Plan (3 Months)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8640" y="96192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MVP Finalization (Weeks 1–2).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Deployment to 1 district/2 health centers (Weeks 3–8).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Evaluate, refine model, report (Weeks 9–12).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69a2e"/>
                </a:solidFill>
                <a:latin typeface="Times New Roman"/>
              </a:rPr>
              <a:t>Funding Ask — $4,000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8160" cy="480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App Development &amp; Backend – $1,500.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Field Pilot – $1,200.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ML Refinement – $600.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Monitoring &amp; Reporting – $400.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Contingency – $300.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69a2e"/>
                </a:solidFill>
                <a:latin typeface="Times New Roman"/>
              </a:rPr>
              <a:t>Sustainability &amp; Scale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9144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NGO partnerships.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Government integration.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Clinic subscription model.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Insurance and employer wellness programs.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Long-term: multi-NCD detection platform.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69a2e"/>
                </a:solidFill>
                <a:latin typeface="Times New Roman"/>
              </a:rPr>
              <a:t>Why Us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Strong ML expertise.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Deep understanding of local health context.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Pilot-ready MVP.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457200">
              <a:lnSpc>
                <a:spcPct val="150000"/>
              </a:lnSpc>
              <a:spcBef>
                <a:spcPts val="561"/>
              </a:spcBef>
              <a:buClr>
                <a:srgbClr val="000000"/>
              </a:buClr>
              <a:buFont typeface="Wingdings" charset="2"/>
              <a:buChar char=""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High-impact results for a low-budget pilot.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246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920" y="2514600"/>
            <a:ext cx="8228160" cy="388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AI-driven Predictor for Type II Diabetes Risk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chemeClr val="dk1"/>
                </a:solidFill>
                <a:latin typeface="Times New Roman"/>
              </a:rPr>
              <a:t>Hellen Nakabuye</a:t>
            </a:r>
            <a:r>
              <a:rPr b="0" lang="en-US" sz="3000" spc="-1" strike="noStrike">
                <a:solidFill>
                  <a:schemeClr val="dk1"/>
                </a:solidFill>
                <a:latin typeface="Times New Roman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i="1" lang="en-US" sz="3000" spc="-1" strike="noStrike">
                <a:solidFill>
                  <a:srgbClr val="069a2e"/>
                </a:solidFill>
                <a:latin typeface="Times New Roman"/>
              </a:rPr>
              <a:t>AB Tools</a:t>
            </a:r>
            <a:r>
              <a:rPr b="0" lang="en-US" sz="3000" spc="-1" strike="noStrike">
                <a:solidFill>
                  <a:srgbClr val="069a2e"/>
                </a:solidFill>
                <a:latin typeface="Times New Roman"/>
              </a:rPr>
              <a:t> 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743040" indent="0" algn="ctr" defTabSz="4572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2439720" y="299160"/>
            <a:ext cx="4114080" cy="2239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2025-12-03T17:45:22Z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