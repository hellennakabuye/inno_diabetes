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5" r:id="rId5"/>
    <p:sldMasterId id="2147483657" r:id="rId6"/>
    <p:sldMasterId id="2147483659" r:id="rId7"/>
    <p:sldMasterId id="2147483661" r:id="rId8"/>
    <p:sldMasterId id="2147483663" r:id="rId9"/>
    <p:sldMasterId id="2147483665" r:id="rId10"/>
  </p:sld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D593FA8-BB74-494B-B186-34DF95C95E5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57DD00C-1D15-43AF-9CBB-228657EE7B6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208870E-D313-4DDF-BA50-B79B42A05DB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C15132E-41A5-4E28-AC26-F4495702871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4E2AA7A-12A6-444B-8E74-671B6F13FBD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9C280F03-ED47-4A36-99E5-0D34AD5C984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00329D7E-BEE5-4325-8F89-E955C445172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3BBC3699-8A6F-45F9-9CCF-2BC01261486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4B9CCA91-580B-4A3F-B787-AD71BBD547E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D52690FB-28D3-4633-815D-286BD9069B1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6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7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8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9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5906250-749E-47DE-A9B7-25FB83B3EF0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68AFC2E-D1A7-47C4-AF33-54C315FCA19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7FB9260-EDB4-435A-8013-87B4AD3028F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  <p:sldLayoutId id="2147483654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eaVer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29BE8A9-3AA7-4C44-9DEF-372016EF5D7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6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vert="eaVert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eaVer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D905CD9-3351-49B5-A6DF-59041674429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8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EC7D58E-9AF9-450C-91C0-BC780BA1B20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0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8872E24-8B3E-4140-BBA7-9527A540306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6B64C3A-8D28-4441-8438-A80F0CDEA78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4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0B7A91A-9C3A-416C-A18C-F1290193A31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6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8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914400" y="3657600"/>
            <a:ext cx="10895040" cy="182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18333" lnSpcReduction="10000"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5000" spc="-1" strike="noStrike">
                <a:solidFill>
                  <a:schemeClr val="dk1"/>
                </a:solidFill>
                <a:latin typeface="Arial"/>
              </a:rPr>
              <a:t>AI-driven Clarity for Diabetes Risk</a:t>
            </a:r>
            <a:br>
              <a:rPr sz="15000"/>
            </a:br>
            <a:br>
              <a:rPr sz="15000"/>
            </a:br>
            <a:br>
              <a:rPr sz="15000"/>
            </a:br>
            <a:br>
              <a:rPr sz="15000"/>
            </a:br>
            <a:r>
              <a:rPr b="0" lang="en-US" sz="15000" spc="-1" strike="noStrike">
                <a:solidFill>
                  <a:schemeClr val="dk1"/>
                </a:solidFill>
                <a:latin typeface="Arial"/>
              </a:rPr>
              <a:t>Hellen Nakabuye(Team Lead)</a:t>
            </a:r>
            <a:endParaRPr b="0" lang="en-US" sz="15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5" name="Picture 2" descr=""/>
          <p:cNvPicPr/>
          <p:nvPr/>
        </p:nvPicPr>
        <p:blipFill>
          <a:blip r:embed="rId1"/>
          <a:stretch/>
        </p:blipFill>
        <p:spPr>
          <a:xfrm>
            <a:off x="4300920" y="1083960"/>
            <a:ext cx="3918600" cy="1437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comments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Reduce text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Prediction to replace diagnosis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Increase visuals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Add some numbers(stats)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Highlight uniqueness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600200" y="228600"/>
            <a:ext cx="914256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1"/>
                </a:solidFill>
                <a:latin typeface="arial"/>
              </a:rPr>
              <a:t>Background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609480" y="1179000"/>
            <a:ext cx="10971360" cy="571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20" spc="-1" strike="noStrike">
                <a:solidFill>
                  <a:schemeClr val="dk1"/>
                </a:solidFill>
                <a:latin typeface="Calibri"/>
              </a:rPr>
              <a:t>Diabetes is a growing public health challenge across Uganda, driven by urbanization, lifestyle changes, aging populations, and genetic susceptibility.</a:t>
            </a:r>
            <a:endParaRPr b="0" lang="en-US" sz="302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20" spc="-1" strike="noStrike">
                <a:solidFill>
                  <a:schemeClr val="dk1"/>
                </a:solidFill>
                <a:latin typeface="Calibri"/>
              </a:rPr>
              <a:t>Type 2 diabetes, also known as Diabetes Mellitus is the most common form and is increasing rapidly due to reduced physical activity, unhealthy diets, and rising obesity levels.</a:t>
            </a:r>
            <a:endParaRPr b="0" lang="en-US" sz="302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20" spc="-1" strike="noStrike">
                <a:solidFill>
                  <a:schemeClr val="dk1"/>
                </a:solidFill>
                <a:latin typeface="Calibri"/>
                <a:ea typeface="Noto Sans CJK SC"/>
              </a:rPr>
              <a:t>Many people are </a:t>
            </a:r>
            <a:r>
              <a:rPr b="1" lang="en-US" sz="3020" spc="-1" strike="noStrike">
                <a:solidFill>
                  <a:schemeClr val="dk1"/>
                </a:solidFill>
                <a:latin typeface="Calibri"/>
                <a:ea typeface="Noto Sans CJK SC"/>
              </a:rPr>
              <a:t>diagnosed late</a:t>
            </a:r>
            <a:r>
              <a:rPr b="0" lang="en-US" sz="3020" spc="-1" strike="noStrike">
                <a:solidFill>
                  <a:schemeClr val="dk1"/>
                </a:solidFill>
                <a:latin typeface="Calibri"/>
                <a:ea typeface="Noto Sans CJK SC"/>
              </a:rPr>
              <a:t> because of limited screening, low awareness, limited screening services, and stigma associated with chronic diseases.</a:t>
            </a:r>
            <a:endParaRPr b="0" lang="en-US" sz="302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20" spc="-1" strike="noStrike">
                <a:solidFill>
                  <a:schemeClr val="dk1"/>
                </a:solidFill>
                <a:latin typeface="Calibri"/>
                <a:ea typeface="Noto Sans CJK SC"/>
              </a:rPr>
              <a:t>Complications—such as kidney disease, blindness, cardiovascular disease, and limb amputations—are often more severe in Africa due to late diagnosis and limited access to quality care.</a:t>
            </a:r>
            <a:endParaRPr b="0" lang="en-US" sz="302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20" spc="-1" strike="noStrike">
                <a:solidFill>
                  <a:schemeClr val="dk1"/>
                </a:solidFill>
                <a:latin typeface="Calibri"/>
                <a:ea typeface="Noto Sans CJK SC"/>
              </a:rPr>
              <a:t>Uganda’s health system faces challenges in providing </a:t>
            </a:r>
            <a:r>
              <a:rPr b="1" lang="en-US" sz="3020" spc="-1" strike="noStrike">
                <a:solidFill>
                  <a:schemeClr val="dk1"/>
                </a:solidFill>
                <a:latin typeface="Calibri"/>
                <a:ea typeface="Noto Sans CJK SC"/>
              </a:rPr>
              <a:t>regular monitoring</a:t>
            </a:r>
            <a:r>
              <a:rPr b="0" lang="en-US" sz="3020" spc="-1" strike="noStrike">
                <a:solidFill>
                  <a:schemeClr val="dk1"/>
                </a:solidFill>
                <a:latin typeface="Calibri"/>
                <a:ea typeface="Noto Sans CJK SC"/>
              </a:rPr>
              <a:t>, medicines (like insulin), and </a:t>
            </a:r>
            <a:r>
              <a:rPr b="1" lang="en-US" sz="3020" spc="-1" strike="noStrike">
                <a:solidFill>
                  <a:schemeClr val="dk1"/>
                </a:solidFill>
                <a:latin typeface="Calibri"/>
                <a:ea typeface="Noto Sans CJK SC"/>
              </a:rPr>
              <a:t>patient education</a:t>
            </a:r>
            <a:r>
              <a:rPr b="0" lang="en-US" sz="3020" spc="-1" strike="noStrike">
                <a:solidFill>
                  <a:schemeClr val="dk1"/>
                </a:solidFill>
                <a:latin typeface="Calibri"/>
                <a:ea typeface="Noto Sans CJK SC"/>
              </a:rPr>
              <a:t>, especially in rural areas.</a:t>
            </a:r>
            <a:endParaRPr b="0" lang="en-US" sz="302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20" spc="-1" strike="noStrike">
                <a:solidFill>
                  <a:schemeClr val="dk1"/>
                </a:solidFill>
                <a:latin typeface="Calibri"/>
                <a:ea typeface="Noto Sans CJK SC"/>
              </a:rPr>
              <a:t>The government and organizations have begun implementing programs for non-communicable disease (NCD) prevention, but resources remain insufficient</a:t>
            </a:r>
            <a:endParaRPr b="0" lang="en-US" sz="30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783000" y="264960"/>
            <a:ext cx="10514160" cy="866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1"/>
                </a:solidFill>
                <a:latin typeface="Arial"/>
              </a:rPr>
              <a:t>Problem Statement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058760"/>
            <a:ext cx="1069200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chemeClr val="dk1"/>
                </a:solidFill>
                <a:latin typeface="Arial"/>
              </a:rPr>
              <a:t>Diabetes is one of the leading non-communicable diseases in Uganda, and its burden continues to grow.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chemeClr val="dk1"/>
                </a:solidFill>
                <a:latin typeface="Arial"/>
              </a:rPr>
              <a:t>Accurate diagnosis of type 2 diabetes often requires multiple laboratory tests, which are costly and time-consuming for both patients and health facilities.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chemeClr val="dk1"/>
                </a:solidFill>
                <a:latin typeface="Arial"/>
              </a:rPr>
              <a:t>However, Health Centre (HC) IVs routinely collect a wide range of patient health data that remains underutilized.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chemeClr val="dk1"/>
                </a:solidFill>
                <a:latin typeface="Arial"/>
              </a:rPr>
              <a:t>Leveraging this existing data through machine learning offers an opportunity to support early, low-cost, and efficient prediction of type 2 diabetes, ultimately improving patient outcomes and reducing pressure on the healthcare system.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indent="0" algn="just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algn="just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138600"/>
            <a:ext cx="10514160" cy="77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Justification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3" name="" descr=""/>
          <p:cNvPicPr/>
          <p:nvPr/>
        </p:nvPicPr>
        <p:blipFill>
          <a:blip r:embed="rId1"/>
          <a:stretch/>
        </p:blipFill>
        <p:spPr>
          <a:xfrm rot="10800000">
            <a:off x="686520" y="7549200"/>
            <a:ext cx="10514160" cy="223200"/>
          </a:xfrm>
          <a:prstGeom prst="rect">
            <a:avLst/>
          </a:prstGeom>
          <a:ln w="0">
            <a:noFill/>
          </a:ln>
        </p:spPr>
      </p:pic>
      <p:sp>
        <p:nvSpPr>
          <p:cNvPr id="74" name=""/>
          <p:cNvSpPr/>
          <p:nvPr/>
        </p:nvSpPr>
        <p:spPr>
          <a:xfrm>
            <a:off x="1219320" y="1143000"/>
            <a:ext cx="9752400" cy="53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chemeClr val="dk1"/>
                </a:solidFill>
                <a:latin typeface="Arial"/>
                <a:ea typeface="DejaVu Sans"/>
              </a:rPr>
              <a:t>Type 2 diabetes is a growing challenge in Uganda, and diagnosis relies on multiple laboratory tests that are costly, time-consuming, and often inaccessible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chemeClr val="dk1"/>
                </a:solidFill>
                <a:latin typeface="Arial"/>
                <a:ea typeface="DejaVu Sans"/>
              </a:rPr>
              <a:t>Delayed diagnosis leads to severe complications, higher treatment costs, and reduced quality of life.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chemeClr val="dk1"/>
                </a:solidFill>
                <a:latin typeface="Arial"/>
                <a:ea typeface="DejaVu Sans"/>
              </a:rPr>
              <a:t>Health Centre (HC) IVs already collect rich clinical and demographic data, but it remains underutilized.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chemeClr val="dk1"/>
                </a:solidFill>
                <a:latin typeface="Arial"/>
                <a:ea typeface="DejaVu Sans"/>
              </a:rPr>
              <a:t>Machine learning can transform this existing data into a low-cost, efficient, and early-detection tool.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chemeClr val="dk1"/>
                </a:solidFill>
                <a:latin typeface="Arial"/>
                <a:ea typeface="DejaVu Sans"/>
              </a:rPr>
              <a:t>An ML model would help health workers identify high-risk patients early, prioritize confirmatory tests, and reduce financial strain on patients and the health system.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chemeClr val="dk1"/>
                </a:solidFill>
                <a:latin typeface="Arial"/>
                <a:ea typeface="DejaVu Sans"/>
              </a:rPr>
              <a:t>This project strengthens diabetes care and promotes data-driven decision-making within Uganda’s healthcare system.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500" spc="-1" strike="noStrike">
                <a:solidFill>
                  <a:schemeClr val="dk1"/>
                </a:solidFill>
                <a:latin typeface="Calibri"/>
              </a:rPr>
              <a:t>State of the Art</a:t>
            </a: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838080" y="1825560"/>
            <a:ext cx="10514160" cy="52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  <a:ea typeface="DejaVu Sans"/>
              </a:rPr>
              <a:t>Traditional Diagnostic Methods (Still Gold Standard) include HbA1c testing, Oral Glucose Tolerance Test (OGTT), Fasting Plasma Glucose (FPG), remain common because they are well-validated and relatively inexpensive.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100" spc="-1" strike="noStrike">
                <a:solidFill>
                  <a:srgbClr val="000000"/>
                </a:solidFill>
                <a:latin typeface="Arial"/>
                <a:ea typeface="DejaVu Sans"/>
              </a:rPr>
              <a:t>They can miss early dysglycemia or individuals at risk (prediabetes)</a:t>
            </a:r>
            <a:r>
              <a:rPr b="0" lang="en-US" sz="21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  <a:ea typeface="DejaVu Sans"/>
              </a:rPr>
              <a:t>Researchers are actively exploring new molecular markers to improve earlier and more precise diagnosis.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  <a:ea typeface="DejaVu Sans"/>
              </a:rPr>
              <a:t>One of the biggest frontiers is using digital health (wearables, sensors) and AI to detect T2D risk, progression, or even predict complications.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  <a:ea typeface="DejaVu Sans"/>
              </a:rPr>
              <a:t>Wearable and Continuous Monitoring Technologies are also available for Type 1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  <a:ea typeface="DejaVu Sans"/>
              </a:rPr>
              <a:t>Challenges include; Validation and Clinical Translation, Population Diversity, clinical integration, and data privacy policies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38080" y="228600"/>
            <a:ext cx="10514160" cy="77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450360" indent="-17964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Objectives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1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100" spc="-1" strike="noStrike">
                <a:solidFill>
                  <a:schemeClr val="dk1"/>
                </a:solidFill>
                <a:latin typeface="Calibri"/>
              </a:rPr>
              <a:t>Goal:</a:t>
            </a:r>
            <a:r>
              <a:rPr b="0" lang="en-US" sz="2100" spc="-1" strike="noStrike">
                <a:solidFill>
                  <a:schemeClr val="dk1"/>
                </a:solidFill>
                <a:latin typeface="Calibri"/>
              </a:rPr>
              <a:t> Develop an AI model to predict the risk of diabetes based on basic, easily collected data.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1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100" spc="-1" strike="noStrike">
                <a:solidFill>
                  <a:schemeClr val="dk1"/>
                </a:solidFill>
                <a:latin typeface="Calibri"/>
              </a:rPr>
              <a:t>Primary objective:</a:t>
            </a:r>
            <a:r>
              <a:rPr b="0" lang="en-US" sz="2100" spc="-1" strike="noStrike">
                <a:solidFill>
                  <a:schemeClr val="dk1"/>
                </a:solidFill>
                <a:latin typeface="Calibri"/>
              </a:rPr>
              <a:t> Early identification of people at risk of diabetes, encouraging further medical testing and intervention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1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100" spc="-1" strike="noStrike">
                <a:solidFill>
                  <a:schemeClr val="dk1"/>
                </a:solidFill>
                <a:latin typeface="Calibri"/>
              </a:rPr>
              <a:t>Secondary objective: </a:t>
            </a:r>
            <a:r>
              <a:rPr b="0" lang="en-US" sz="2100" spc="-1" strike="noStrike">
                <a:solidFill>
                  <a:schemeClr val="dk1"/>
                </a:solidFill>
                <a:latin typeface="Calibri"/>
              </a:rPr>
              <a:t>increase awareness, encourage healthier lifestyles(exercise and diet) ,and reduce healthcare costs by focusing on prevention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38080" y="367560"/>
            <a:ext cx="10514160" cy="77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450360" indent="-17964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Methodology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914400" y="1371600"/>
            <a:ext cx="10514160" cy="548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Study Design: This study aims to develop and evaluate machine learning (ML) models capable of predicting diabetes risk (Type 2) using clinical, demographic, and lifestyle variables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Data Acquisition; the current dataset used is from Kaggle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Data Preprocessing; handling missing values, data cleaning, outliers, data splitting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1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100" spc="-1" strike="noStrike">
                <a:solidFill>
                  <a:srgbClr val="000000"/>
                </a:solidFill>
                <a:latin typeface="arial"/>
                <a:ea typeface="Noto Sans CJK SC"/>
              </a:rPr>
              <a:t>Feature engineering; age(over 45!), BMI( &gt;30 for obesity), physical inactivity, family history of diabetes, hypertension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  <a:ea typeface="Noto Sans CJK SC"/>
              </a:rPr>
              <a:t>Model Development; Random Forest, Logistic Regression, XGBoost, Support Vector Machine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  <a:ea typeface="Noto Sans CJK SC"/>
              </a:rPr>
              <a:t>Model Evaluation using AUC-ROC, Accuracy, Precision, Recall, F1-score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  <a:ea typeface="Noto Sans CJK SC"/>
              </a:rPr>
              <a:t>Deployment &amp; Validation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  <a:ea typeface="Noto Sans CJK SC"/>
              </a:rPr>
              <a:t>Ethical Considerations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457200" indent="-228600">
              <a:lnSpc>
                <a:spcPct val="115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450360" indent="-17964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Datasets Used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57200" indent="-228600">
              <a:lnSpc>
                <a:spcPct val="11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Demographic data; age, sex, BMI(weight, height)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457200" indent="-228600">
              <a:lnSpc>
                <a:spcPct val="11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Lifestyle factors; diet, physical activity, smoking, alcohol use, stress levels (job could help for these)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457200" indent="-228600">
              <a:lnSpc>
                <a:spcPct val="11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Medical history; family history of diabetes, hypertension, gestational diabetes(women)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457200" indent="-228600">
              <a:lnSpc>
                <a:spcPct val="11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Health metrics; blood pressure, hypertension, fasting glucose levels or HbA1c levels(if available)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457200" indent="-228600">
              <a:lnSpc>
                <a:spcPct val="11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Data privacy shall be ensured, diabetes clinics for private and public hospitals have this data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914400" y="46800"/>
            <a:ext cx="10514160" cy="86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450360" indent="-17964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Work Plan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" descr=""/>
          <p:cNvPicPr/>
          <p:nvPr/>
        </p:nvPicPr>
        <p:blipFill>
          <a:blip r:embed="rId1"/>
          <a:stretch/>
        </p:blipFill>
        <p:spPr>
          <a:xfrm>
            <a:off x="152280" y="1270800"/>
            <a:ext cx="11734200" cy="5357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685800" y="275400"/>
            <a:ext cx="10514160" cy="200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4400" spc="-1" strike="noStrike">
                <a:solidFill>
                  <a:srgbClr val="000000"/>
                </a:solidFill>
                <a:latin typeface="Arial"/>
              </a:rPr>
              <a:t>THANK YOU!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7" name="Picture 1" descr=""/>
          <p:cNvPicPr/>
          <p:nvPr/>
        </p:nvPicPr>
        <p:blipFill>
          <a:blip r:embed="rId1"/>
          <a:stretch/>
        </p:blipFill>
        <p:spPr>
          <a:xfrm>
            <a:off x="4343400" y="2514600"/>
            <a:ext cx="3424320" cy="2907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587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2025-09-24T12:52:55Z</dcterms:created>
  <dc:creator>USER</dc:creator>
  <dc:description/>
  <dc:language>en-US</dc:language>
  <cp:lastModifiedBy/>
  <dcterms:modified xsi:type="dcterms:W3CDTF">2025-11-20T15:25:23Z</dcterms:modified>
  <cp:revision>160</cp:revision>
  <dc:subject/>
  <dc:title>AB TOOLS Solutions for quick diagnosis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r8>10</vt:r8>
  </property>
</Properties>
</file>